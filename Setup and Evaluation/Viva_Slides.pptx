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64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E276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608"/>
    <p:restoredTop sz="94610"/>
  </p:normalViewPr>
  <p:slideViewPr>
    <p:cSldViewPr snapToGrid="0" snapToObjects="1">
      <p:cViewPr varScale="1">
        <p:scale>
          <a:sx n="121" d="100"/>
          <a:sy n="121" d="100"/>
        </p:scale>
        <p:origin x="200" y="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6745BFE-740E-4423-8E84-2F8D569D7F35}" type="doc">
      <dgm:prSet loTypeId="urn:microsoft.com/office/officeart/2008/layout/LinedList" loCatId="list" qsTypeId="urn:microsoft.com/office/officeart/2005/8/quickstyle/simple1#2" qsCatId="simple" csTypeId="urn:microsoft.com/office/officeart/2005/8/colors/accent1_2#1" csCatId="accent1"/>
      <dgm:spPr/>
      <dgm:t>
        <a:bodyPr/>
        <a:lstStyle/>
        <a:p>
          <a:endParaRPr lang="en-US"/>
        </a:p>
      </dgm:t>
    </dgm:pt>
    <dgm:pt modelId="{EBA35A84-6562-4CE2-8BAE-F71587FC66C6}">
      <dgm:prSet/>
      <dgm:spPr/>
      <dgm:t>
        <a:bodyPr/>
        <a:lstStyle/>
        <a:p>
          <a:r>
            <a:rPr lang="en-US" dirty="0">
              <a:solidFill>
                <a:srgbClr val="1E2761"/>
              </a:solidFill>
              <a:latin typeface="Cambria" panose="02040503050406030204" pitchFamily="18" charset="0"/>
            </a:rPr>
            <a:t>Kalah Kennebrew</a:t>
          </a:r>
        </a:p>
      </dgm:t>
    </dgm:pt>
    <dgm:pt modelId="{F7420373-7FF5-44B2-BB58-991AFE1DFE98}" type="parTrans" cxnId="{EB554B81-F3F8-4419-8E3C-31E4ADC63EEE}">
      <dgm:prSet/>
      <dgm:spPr/>
      <dgm:t>
        <a:bodyPr/>
        <a:lstStyle/>
        <a:p>
          <a:endParaRPr lang="en-US"/>
        </a:p>
      </dgm:t>
    </dgm:pt>
    <dgm:pt modelId="{2A11212B-0A72-419E-B55B-EE1B3390BE12}" type="sibTrans" cxnId="{EB554B81-F3F8-4419-8E3C-31E4ADC63EEE}">
      <dgm:prSet/>
      <dgm:spPr/>
      <dgm:t>
        <a:bodyPr/>
        <a:lstStyle/>
        <a:p>
          <a:endParaRPr lang="en-US"/>
        </a:p>
      </dgm:t>
    </dgm:pt>
    <dgm:pt modelId="{B5C56D6A-F0B5-4D77-A4F4-565FCBB3E70B}">
      <dgm:prSet/>
      <dgm:spPr/>
      <dgm:t>
        <a:bodyPr/>
        <a:lstStyle/>
        <a:p>
          <a:r>
            <a:rPr lang="en-US" dirty="0">
              <a:solidFill>
                <a:srgbClr val="1E2761"/>
              </a:solidFill>
              <a:latin typeface="Cambria" panose="02040503050406030204" pitchFamily="18" charset="0"/>
            </a:rPr>
            <a:t>Dissertation presentation for the MSc Dissertation Module</a:t>
          </a:r>
        </a:p>
      </dgm:t>
    </dgm:pt>
    <dgm:pt modelId="{25652F94-A7A0-497F-8670-E6FC2F5714D9}" type="parTrans" cxnId="{4CE94FB4-D31B-4768-B05A-BF69B77F953A}">
      <dgm:prSet/>
      <dgm:spPr/>
      <dgm:t>
        <a:bodyPr/>
        <a:lstStyle/>
        <a:p>
          <a:endParaRPr lang="en-US"/>
        </a:p>
      </dgm:t>
    </dgm:pt>
    <dgm:pt modelId="{218B6ECC-CD2A-460C-B8F9-A3FD7B1CF413}" type="sibTrans" cxnId="{4CE94FB4-D31B-4768-B05A-BF69B77F953A}">
      <dgm:prSet/>
      <dgm:spPr/>
      <dgm:t>
        <a:bodyPr/>
        <a:lstStyle/>
        <a:p>
          <a:endParaRPr lang="en-US"/>
        </a:p>
      </dgm:t>
    </dgm:pt>
    <dgm:pt modelId="{9802240A-5D86-4806-9F6F-0A8FAB68F085}">
      <dgm:prSet/>
      <dgm:spPr/>
      <dgm:t>
        <a:bodyPr/>
        <a:lstStyle/>
        <a:p>
          <a:r>
            <a:rPr lang="en-US" dirty="0">
              <a:solidFill>
                <a:srgbClr val="1E2761"/>
              </a:solidFill>
              <a:latin typeface="Cambria" panose="02040503050406030204" pitchFamily="18" charset="0"/>
            </a:rPr>
            <a:t>School of Computing Sciences, University of East Anglia, 2025/26</a:t>
          </a:r>
        </a:p>
      </dgm:t>
    </dgm:pt>
    <dgm:pt modelId="{112A576E-CC8B-4475-803F-2058DDE0A1D2}" type="parTrans" cxnId="{B0322F74-1A0C-4D91-8308-489AAEE70EF3}">
      <dgm:prSet/>
      <dgm:spPr/>
      <dgm:t>
        <a:bodyPr/>
        <a:lstStyle/>
        <a:p>
          <a:endParaRPr lang="en-US"/>
        </a:p>
      </dgm:t>
    </dgm:pt>
    <dgm:pt modelId="{B831EB2A-361D-42A2-BB17-F8FFCB98D563}" type="sibTrans" cxnId="{B0322F74-1A0C-4D91-8308-489AAEE70EF3}">
      <dgm:prSet/>
      <dgm:spPr/>
      <dgm:t>
        <a:bodyPr/>
        <a:lstStyle/>
        <a:p>
          <a:endParaRPr lang="en-US"/>
        </a:p>
      </dgm:t>
    </dgm:pt>
    <dgm:pt modelId="{DA75CB76-0093-4138-AD2B-49425A65AB37}" type="pres">
      <dgm:prSet presAssocID="{36745BFE-740E-4423-8E84-2F8D569D7F35}" presName="vert0" presStyleCnt="0">
        <dgm:presLayoutVars>
          <dgm:dir/>
          <dgm:animOne val="branch"/>
          <dgm:animLvl val="lvl"/>
        </dgm:presLayoutVars>
      </dgm:prSet>
      <dgm:spPr/>
    </dgm:pt>
    <dgm:pt modelId="{13BDF4CA-1FD9-4F1B-A854-253EF68918C2}" type="pres">
      <dgm:prSet presAssocID="{EBA35A84-6562-4CE2-8BAE-F71587FC66C6}" presName="thickLine" presStyleLbl="alignNode1" presStyleIdx="0" presStyleCnt="3"/>
      <dgm:spPr/>
    </dgm:pt>
    <dgm:pt modelId="{87E9CA9A-147B-445B-B537-3EF9A80076B2}" type="pres">
      <dgm:prSet presAssocID="{EBA35A84-6562-4CE2-8BAE-F71587FC66C6}" presName="horz1" presStyleCnt="0"/>
      <dgm:spPr/>
    </dgm:pt>
    <dgm:pt modelId="{7D06725E-92F2-4969-91E5-0B497B711DD6}" type="pres">
      <dgm:prSet presAssocID="{EBA35A84-6562-4CE2-8BAE-F71587FC66C6}" presName="tx1" presStyleLbl="revTx" presStyleIdx="0" presStyleCnt="3"/>
      <dgm:spPr/>
    </dgm:pt>
    <dgm:pt modelId="{B18EADCE-DADD-42EE-99FD-F03D7C034D39}" type="pres">
      <dgm:prSet presAssocID="{EBA35A84-6562-4CE2-8BAE-F71587FC66C6}" presName="vert1" presStyleCnt="0"/>
      <dgm:spPr/>
    </dgm:pt>
    <dgm:pt modelId="{633CB2FD-C33F-44A4-A26C-C677A4822132}" type="pres">
      <dgm:prSet presAssocID="{B5C56D6A-F0B5-4D77-A4F4-565FCBB3E70B}" presName="thickLine" presStyleLbl="alignNode1" presStyleIdx="1" presStyleCnt="3"/>
      <dgm:spPr/>
    </dgm:pt>
    <dgm:pt modelId="{3751417E-8257-435A-B888-5C287E98927D}" type="pres">
      <dgm:prSet presAssocID="{B5C56D6A-F0B5-4D77-A4F4-565FCBB3E70B}" presName="horz1" presStyleCnt="0"/>
      <dgm:spPr/>
    </dgm:pt>
    <dgm:pt modelId="{10C5E845-BFF2-48BA-8A42-14808F74798E}" type="pres">
      <dgm:prSet presAssocID="{B5C56D6A-F0B5-4D77-A4F4-565FCBB3E70B}" presName="tx1" presStyleLbl="revTx" presStyleIdx="1" presStyleCnt="3"/>
      <dgm:spPr/>
    </dgm:pt>
    <dgm:pt modelId="{7703BB8B-AC56-4197-AECF-25865397A3EE}" type="pres">
      <dgm:prSet presAssocID="{B5C56D6A-F0B5-4D77-A4F4-565FCBB3E70B}" presName="vert1" presStyleCnt="0"/>
      <dgm:spPr/>
    </dgm:pt>
    <dgm:pt modelId="{9C14AD56-6A5D-4E77-8DCA-3607398B1E76}" type="pres">
      <dgm:prSet presAssocID="{9802240A-5D86-4806-9F6F-0A8FAB68F085}" presName="thickLine" presStyleLbl="alignNode1" presStyleIdx="2" presStyleCnt="3"/>
      <dgm:spPr/>
    </dgm:pt>
    <dgm:pt modelId="{1A218C11-C1D0-4AFA-9396-E3C25E973DBB}" type="pres">
      <dgm:prSet presAssocID="{9802240A-5D86-4806-9F6F-0A8FAB68F085}" presName="horz1" presStyleCnt="0"/>
      <dgm:spPr/>
    </dgm:pt>
    <dgm:pt modelId="{4A261453-3594-4BA2-8573-5A7136BD834F}" type="pres">
      <dgm:prSet presAssocID="{9802240A-5D86-4806-9F6F-0A8FAB68F085}" presName="tx1" presStyleLbl="revTx" presStyleIdx="2" presStyleCnt="3"/>
      <dgm:spPr/>
    </dgm:pt>
    <dgm:pt modelId="{C27532E1-C564-4AB1-B856-E237553A86A6}" type="pres">
      <dgm:prSet presAssocID="{9802240A-5D86-4806-9F6F-0A8FAB68F085}" presName="vert1" presStyleCnt="0"/>
      <dgm:spPr/>
    </dgm:pt>
  </dgm:ptLst>
  <dgm:cxnLst>
    <dgm:cxn modelId="{78D20C3D-FEDE-4F64-A5BE-A30533FD3EA0}" type="presOf" srcId="{B5C56D6A-F0B5-4D77-A4F4-565FCBB3E70B}" destId="{10C5E845-BFF2-48BA-8A42-14808F74798E}" srcOrd="0" destOrd="0" presId="urn:microsoft.com/office/officeart/2008/layout/LinedList"/>
    <dgm:cxn modelId="{B0322F74-1A0C-4D91-8308-489AAEE70EF3}" srcId="{36745BFE-740E-4423-8E84-2F8D569D7F35}" destId="{9802240A-5D86-4806-9F6F-0A8FAB68F085}" srcOrd="2" destOrd="0" parTransId="{112A576E-CC8B-4475-803F-2058DDE0A1D2}" sibTransId="{B831EB2A-361D-42A2-BB17-F8FFCB98D563}"/>
    <dgm:cxn modelId="{EB554B81-F3F8-4419-8E3C-31E4ADC63EEE}" srcId="{36745BFE-740E-4423-8E84-2F8D569D7F35}" destId="{EBA35A84-6562-4CE2-8BAE-F71587FC66C6}" srcOrd="0" destOrd="0" parTransId="{F7420373-7FF5-44B2-BB58-991AFE1DFE98}" sibTransId="{2A11212B-0A72-419E-B55B-EE1B3390BE12}"/>
    <dgm:cxn modelId="{638885AC-6F7F-4140-9DF4-9958E66FD66F}" type="presOf" srcId="{36745BFE-740E-4423-8E84-2F8D569D7F35}" destId="{DA75CB76-0093-4138-AD2B-49425A65AB37}" srcOrd="0" destOrd="0" presId="urn:microsoft.com/office/officeart/2008/layout/LinedList"/>
    <dgm:cxn modelId="{6D4475AE-B959-4A9E-870A-AC1645A9311A}" type="presOf" srcId="{9802240A-5D86-4806-9F6F-0A8FAB68F085}" destId="{4A261453-3594-4BA2-8573-5A7136BD834F}" srcOrd="0" destOrd="0" presId="urn:microsoft.com/office/officeart/2008/layout/LinedList"/>
    <dgm:cxn modelId="{4CE94FB4-D31B-4768-B05A-BF69B77F953A}" srcId="{36745BFE-740E-4423-8E84-2F8D569D7F35}" destId="{B5C56D6A-F0B5-4D77-A4F4-565FCBB3E70B}" srcOrd="1" destOrd="0" parTransId="{25652F94-A7A0-497F-8670-E6FC2F5714D9}" sibTransId="{218B6ECC-CD2A-460C-B8F9-A3FD7B1CF413}"/>
    <dgm:cxn modelId="{0B3F14D1-037D-4096-940C-D4E3B0DF4005}" type="presOf" srcId="{EBA35A84-6562-4CE2-8BAE-F71587FC66C6}" destId="{7D06725E-92F2-4969-91E5-0B497B711DD6}" srcOrd="0" destOrd="0" presId="urn:microsoft.com/office/officeart/2008/layout/LinedList"/>
    <dgm:cxn modelId="{38D20DEC-1CC9-4537-A91D-5D10D10E9A5B}" type="presParOf" srcId="{DA75CB76-0093-4138-AD2B-49425A65AB37}" destId="{13BDF4CA-1FD9-4F1B-A854-253EF68918C2}" srcOrd="0" destOrd="0" presId="urn:microsoft.com/office/officeart/2008/layout/LinedList"/>
    <dgm:cxn modelId="{091D5ED1-684F-4DCA-A3D8-8A9592E66F88}" type="presParOf" srcId="{DA75CB76-0093-4138-AD2B-49425A65AB37}" destId="{87E9CA9A-147B-445B-B537-3EF9A80076B2}" srcOrd="1" destOrd="0" presId="urn:microsoft.com/office/officeart/2008/layout/LinedList"/>
    <dgm:cxn modelId="{A0FBE978-D460-488E-B36E-3876FB3D21E2}" type="presParOf" srcId="{87E9CA9A-147B-445B-B537-3EF9A80076B2}" destId="{7D06725E-92F2-4969-91E5-0B497B711DD6}" srcOrd="0" destOrd="0" presId="urn:microsoft.com/office/officeart/2008/layout/LinedList"/>
    <dgm:cxn modelId="{A8EBB781-660F-4DCE-A217-E6E61C56119E}" type="presParOf" srcId="{87E9CA9A-147B-445B-B537-3EF9A80076B2}" destId="{B18EADCE-DADD-42EE-99FD-F03D7C034D39}" srcOrd="1" destOrd="0" presId="urn:microsoft.com/office/officeart/2008/layout/LinedList"/>
    <dgm:cxn modelId="{CDC11BED-F83D-4492-BF61-D72D6BCC2331}" type="presParOf" srcId="{DA75CB76-0093-4138-AD2B-49425A65AB37}" destId="{633CB2FD-C33F-44A4-A26C-C677A4822132}" srcOrd="2" destOrd="0" presId="urn:microsoft.com/office/officeart/2008/layout/LinedList"/>
    <dgm:cxn modelId="{F4E4CD6A-FAF5-420F-AC81-04E7F6515198}" type="presParOf" srcId="{DA75CB76-0093-4138-AD2B-49425A65AB37}" destId="{3751417E-8257-435A-B888-5C287E98927D}" srcOrd="3" destOrd="0" presId="urn:microsoft.com/office/officeart/2008/layout/LinedList"/>
    <dgm:cxn modelId="{CD3FD57D-EA53-4FE5-8376-36BD2B72068A}" type="presParOf" srcId="{3751417E-8257-435A-B888-5C287E98927D}" destId="{10C5E845-BFF2-48BA-8A42-14808F74798E}" srcOrd="0" destOrd="0" presId="urn:microsoft.com/office/officeart/2008/layout/LinedList"/>
    <dgm:cxn modelId="{F372E294-2D5D-4AAB-8936-F78A2A83FF53}" type="presParOf" srcId="{3751417E-8257-435A-B888-5C287E98927D}" destId="{7703BB8B-AC56-4197-AECF-25865397A3EE}" srcOrd="1" destOrd="0" presId="urn:microsoft.com/office/officeart/2008/layout/LinedList"/>
    <dgm:cxn modelId="{DB83B56E-8B5B-4681-9A54-E93067D37BAE}" type="presParOf" srcId="{DA75CB76-0093-4138-AD2B-49425A65AB37}" destId="{9C14AD56-6A5D-4E77-8DCA-3607398B1E76}" srcOrd="4" destOrd="0" presId="urn:microsoft.com/office/officeart/2008/layout/LinedList"/>
    <dgm:cxn modelId="{797FF5FC-9D58-49BF-B7D0-21FF43701A28}" type="presParOf" srcId="{DA75CB76-0093-4138-AD2B-49425A65AB37}" destId="{1A218C11-C1D0-4AFA-9396-E3C25E973DBB}" srcOrd="5" destOrd="0" presId="urn:microsoft.com/office/officeart/2008/layout/LinedList"/>
    <dgm:cxn modelId="{0C9A31C0-DE0C-44B2-95E1-610227A4655A}" type="presParOf" srcId="{1A218C11-C1D0-4AFA-9396-E3C25E973DBB}" destId="{4A261453-3594-4BA2-8573-5A7136BD834F}" srcOrd="0" destOrd="0" presId="urn:microsoft.com/office/officeart/2008/layout/LinedList"/>
    <dgm:cxn modelId="{73687C58-B703-4645-8AB4-1D90201E2242}" type="presParOf" srcId="{1A218C11-C1D0-4AFA-9396-E3C25E973DBB}" destId="{C27532E1-C564-4AB1-B856-E237553A86A6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3BDF4CA-1FD9-4F1B-A854-253EF68918C2}">
      <dsp:nvSpPr>
        <dsp:cNvPr id="0" name=""/>
        <dsp:cNvSpPr/>
      </dsp:nvSpPr>
      <dsp:spPr>
        <a:xfrm>
          <a:off x="0" y="2352"/>
          <a:ext cx="5336753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D06725E-92F2-4969-91E5-0B497B711DD6}">
      <dsp:nvSpPr>
        <dsp:cNvPr id="0" name=""/>
        <dsp:cNvSpPr/>
      </dsp:nvSpPr>
      <dsp:spPr>
        <a:xfrm>
          <a:off x="0" y="2352"/>
          <a:ext cx="5336753" cy="16044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30" tIns="125730" rIns="125730" bIns="125730" numCol="1" spcCol="1270" anchor="t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kern="1200" dirty="0">
              <a:solidFill>
                <a:srgbClr val="1E2761"/>
              </a:solidFill>
              <a:latin typeface="Cambria" panose="02040503050406030204" pitchFamily="18" charset="0"/>
            </a:rPr>
            <a:t>Kalah Kennebrew</a:t>
          </a:r>
        </a:p>
      </dsp:txBody>
      <dsp:txXfrm>
        <a:off x="0" y="2352"/>
        <a:ext cx="5336753" cy="1604452"/>
      </dsp:txXfrm>
    </dsp:sp>
    <dsp:sp modelId="{633CB2FD-C33F-44A4-A26C-C677A4822132}">
      <dsp:nvSpPr>
        <dsp:cNvPr id="0" name=""/>
        <dsp:cNvSpPr/>
      </dsp:nvSpPr>
      <dsp:spPr>
        <a:xfrm>
          <a:off x="0" y="1606804"/>
          <a:ext cx="5336753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0C5E845-BFF2-48BA-8A42-14808F74798E}">
      <dsp:nvSpPr>
        <dsp:cNvPr id="0" name=""/>
        <dsp:cNvSpPr/>
      </dsp:nvSpPr>
      <dsp:spPr>
        <a:xfrm>
          <a:off x="0" y="1606804"/>
          <a:ext cx="5336753" cy="16044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30" tIns="125730" rIns="125730" bIns="125730" numCol="1" spcCol="1270" anchor="t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kern="1200" dirty="0">
              <a:solidFill>
                <a:srgbClr val="1E2761"/>
              </a:solidFill>
              <a:latin typeface="Cambria" panose="02040503050406030204" pitchFamily="18" charset="0"/>
            </a:rPr>
            <a:t>Dissertation presentation for the MSc Dissertation Module</a:t>
          </a:r>
        </a:p>
      </dsp:txBody>
      <dsp:txXfrm>
        <a:off x="0" y="1606804"/>
        <a:ext cx="5336753" cy="1604452"/>
      </dsp:txXfrm>
    </dsp:sp>
    <dsp:sp modelId="{9C14AD56-6A5D-4E77-8DCA-3607398B1E76}">
      <dsp:nvSpPr>
        <dsp:cNvPr id="0" name=""/>
        <dsp:cNvSpPr/>
      </dsp:nvSpPr>
      <dsp:spPr>
        <a:xfrm>
          <a:off x="0" y="3211257"/>
          <a:ext cx="5336753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A261453-3594-4BA2-8573-5A7136BD834F}">
      <dsp:nvSpPr>
        <dsp:cNvPr id="0" name=""/>
        <dsp:cNvSpPr/>
      </dsp:nvSpPr>
      <dsp:spPr>
        <a:xfrm>
          <a:off x="0" y="3211257"/>
          <a:ext cx="5336753" cy="16044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30" tIns="125730" rIns="125730" bIns="125730" numCol="1" spcCol="1270" anchor="t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kern="1200" dirty="0">
              <a:solidFill>
                <a:srgbClr val="1E2761"/>
              </a:solidFill>
              <a:latin typeface="Cambria" panose="02040503050406030204" pitchFamily="18" charset="0"/>
            </a:rPr>
            <a:t>School of Computing Sciences, University of East Anglia, 2025/26</a:t>
          </a:r>
        </a:p>
      </dsp:txBody>
      <dsp:txXfrm>
        <a:off x="0" y="3211257"/>
        <a:ext cx="5336753" cy="160445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2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279310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o.zavala.tx.us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50F06ED-304C-CCFD-D63A-CD3FFE835806}"/>
              </a:ext>
            </a:extLst>
          </p:cNvPr>
          <p:cNvSpPr txBox="1"/>
          <p:nvPr/>
        </p:nvSpPr>
        <p:spPr>
          <a:xfrm>
            <a:off x="335280" y="847636"/>
            <a:ext cx="5201920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/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Designing for Accessibility, Low Literacy, and Low Connectivity</a:t>
            </a:r>
            <a:endParaRPr lang="en-US" sz="4000" dirty="0">
              <a:solidFill>
                <a:srgbClr val="1E276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EE594C-4C9B-7C8C-3F2F-51B344EC8C10}"/>
              </a:ext>
            </a:extLst>
          </p:cNvPr>
          <p:cNvSpPr txBox="1"/>
          <p:nvPr/>
        </p:nvSpPr>
        <p:spPr>
          <a:xfrm>
            <a:off x="335280" y="3726706"/>
            <a:ext cx="520192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Question: How can optimizing for accessibility, low-literacy, and low-connectivity in e-government interfaces improve task completion on the Zavala County, Texas website?</a:t>
            </a:r>
            <a:r>
              <a:rPr lang="en-US" sz="2400" dirty="0">
                <a:ea typeface="Calibri" pitchFamily="34" charset="-122"/>
                <a:cs typeface="Calibri" pitchFamily="34" charset="-120"/>
              </a:rPr>
              <a:t> </a:t>
            </a:r>
          </a:p>
        </p:txBody>
      </p:sp>
      <p:graphicFrame>
        <p:nvGraphicFramePr>
          <p:cNvPr id="10" name="Subtitle 2">
            <a:extLst>
              <a:ext uri="{FF2B5EF4-FFF2-40B4-BE49-F238E27FC236}">
                <a16:creationId xmlns:a16="http://schemas.microsoft.com/office/drawing/2014/main" id="{28B0E3FE-F60C-5B73-0760-03EA7E1646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1688626"/>
              </p:ext>
            </p:extLst>
          </p:nvPr>
        </p:nvGraphicFramePr>
        <p:xfrm>
          <a:off x="6096000" y="847636"/>
          <a:ext cx="5336753" cy="481806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7407763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Zavala County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16002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Zavala County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13816" y="1425956"/>
            <a:ext cx="4956048" cy="3677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endParaRPr lang="en-US" sz="1500" dirty="0">
              <a:solidFill>
                <a:srgbClr val="1A1A2E"/>
              </a:solidFill>
              <a:ea typeface="Calibri" pitchFamily="34" charset="-122"/>
              <a:cs typeface="Calibri" pitchFamily="34" charset="-120"/>
            </a:endParaRPr>
          </a:p>
          <a:p>
            <a:pPr marL="0" indent="0">
              <a:lnSpc>
                <a:spcPct val="115000"/>
              </a:lnSpc>
              <a:buNone/>
            </a:pPr>
            <a:endParaRPr lang="en-US" sz="1500" dirty="0">
              <a:solidFill>
                <a:srgbClr val="1A1A2E"/>
              </a:solidFill>
              <a:ea typeface="Calibri" pitchFamily="34" charset="-122"/>
              <a:cs typeface="Calibri" pitchFamily="34" charset="-120"/>
            </a:endParaRPr>
          </a:p>
          <a:p>
            <a:pPr marL="0" indent="0">
              <a:lnSpc>
                <a:spcPct val="115000"/>
              </a:lnSpc>
              <a:buNone/>
            </a:pPr>
            <a:endParaRPr lang="en-US" sz="1500" dirty="0">
              <a:solidFill>
                <a:srgbClr val="1A1A2E"/>
              </a:solidFill>
              <a:ea typeface="Calibri" pitchFamily="34" charset="-122"/>
              <a:cs typeface="Calibri" pitchFamily="34" charset="-120"/>
            </a:endParaRPr>
          </a:p>
          <a:p>
            <a:pPr lvl="0" fontAlgn="base"/>
            <a:r>
              <a:rPr lang="en-US" sz="1500" dirty="0"/>
              <a:t>Located in Southwest Texas​</a:t>
            </a:r>
          </a:p>
          <a:p>
            <a:pPr lvl="0" fontAlgn="base"/>
            <a:endParaRPr lang="en-US" sz="1500" dirty="0"/>
          </a:p>
          <a:p>
            <a:pPr lvl="0" fontAlgn="base"/>
            <a:r>
              <a:rPr lang="en-US" sz="1500" dirty="0"/>
              <a:t>Sits at the U.S.- Mexico border</a:t>
            </a:r>
          </a:p>
          <a:p>
            <a:pPr lvl="0" fontAlgn="base"/>
            <a:r>
              <a:rPr lang="en-US" sz="1500" dirty="0"/>
              <a:t>​</a:t>
            </a:r>
          </a:p>
          <a:p>
            <a:pPr lvl="0" fontAlgn="base"/>
            <a:r>
              <a:rPr lang="en-US" sz="1500" dirty="0"/>
              <a:t>Its main town, or county seat, is Crystal City​</a:t>
            </a:r>
          </a:p>
          <a:p>
            <a:pPr lvl="0" fontAlgn="base"/>
            <a:endParaRPr lang="en-US" sz="1500" dirty="0"/>
          </a:p>
          <a:p>
            <a:pPr lvl="0" fontAlgn="base"/>
            <a:r>
              <a:rPr lang="en-US" sz="1500" dirty="0"/>
              <a:t>92.7% of residents identified as Hispanic or Latinx (U.S. Census Bureau, 2025)​</a:t>
            </a:r>
          </a:p>
          <a:p>
            <a:pPr lvl="0" fontAlgn="base"/>
            <a:endParaRPr lang="en-US" sz="1500" dirty="0"/>
          </a:p>
          <a:p>
            <a:pPr lvl="0" fontAlgn="base"/>
            <a:r>
              <a:rPr lang="en-US" sz="1500" dirty="0"/>
              <a:t>83.3% households have broadband access; 1 in 6 households without broadband (U.S. Census Bureau, 2025)​</a:t>
            </a:r>
          </a:p>
          <a:p>
            <a:pPr marL="0" indent="0">
              <a:lnSpc>
                <a:spcPct val="115000"/>
              </a:lnSpc>
              <a:buNone/>
            </a:pP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4068" y="2819908"/>
            <a:ext cx="91440" cy="91440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8" name="Shape 6"/>
          <p:cNvSpPr/>
          <p:nvPr/>
        </p:nvSpPr>
        <p:spPr>
          <a:xfrm>
            <a:off x="559816" y="2350516"/>
            <a:ext cx="91440" cy="91440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16" name="Text 14"/>
          <p:cNvSpPr/>
          <p:nvPr/>
        </p:nvSpPr>
        <p:spPr>
          <a:xfrm>
            <a:off x="6402905" y="603504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Zavala County Website   </a:t>
            </a:r>
            <a:r>
              <a:rPr lang="en-US" u="sng" dirty="0">
                <a:solidFill>
                  <a:srgbClr val="C892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co.zavala.tx.us</a:t>
            </a:r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9DFF55C1-1232-B8FD-5E4C-11254BB1E6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9216" y="80010"/>
            <a:ext cx="6179459" cy="5840041"/>
          </a:xfrm>
          <a:prstGeom prst="rect">
            <a:avLst/>
          </a:prstGeom>
        </p:spPr>
      </p:pic>
      <p:sp>
        <p:nvSpPr>
          <p:cNvPr id="19" name="Shape 4">
            <a:extLst>
              <a:ext uri="{FF2B5EF4-FFF2-40B4-BE49-F238E27FC236}">
                <a16:creationId xmlns:a16="http://schemas.microsoft.com/office/drawing/2014/main" id="{75E06B23-2D2D-50A7-09EE-A1B6FFC885D8}"/>
              </a:ext>
            </a:extLst>
          </p:cNvPr>
          <p:cNvSpPr/>
          <p:nvPr/>
        </p:nvSpPr>
        <p:spPr>
          <a:xfrm>
            <a:off x="544068" y="3271012"/>
            <a:ext cx="91440" cy="91440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20" name="Shape 4">
            <a:extLst>
              <a:ext uri="{FF2B5EF4-FFF2-40B4-BE49-F238E27FC236}">
                <a16:creationId xmlns:a16="http://schemas.microsoft.com/office/drawing/2014/main" id="{E9944AC7-FADB-F486-E03C-42005627B5F6}"/>
              </a:ext>
            </a:extLst>
          </p:cNvPr>
          <p:cNvSpPr/>
          <p:nvPr/>
        </p:nvSpPr>
        <p:spPr>
          <a:xfrm>
            <a:off x="555752" y="3696208"/>
            <a:ext cx="91440" cy="91440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53B65815-A3AF-5CB5-EAFF-FBB612921D73}"/>
              </a:ext>
            </a:extLst>
          </p:cNvPr>
          <p:cNvSpPr/>
          <p:nvPr/>
        </p:nvSpPr>
        <p:spPr>
          <a:xfrm>
            <a:off x="544068" y="4416045"/>
            <a:ext cx="91440" cy="91440"/>
          </a:xfrm>
          <a:prstGeom prst="ellipse">
            <a:avLst/>
          </a:prstGeom>
          <a:solidFill>
            <a:srgbClr val="C8922B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2743200" y="3154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6611112" y="1600200"/>
            <a:ext cx="384048" cy="384048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8" name="Text 6"/>
          <p:cNvSpPr/>
          <p:nvPr/>
        </p:nvSpPr>
        <p:spPr>
          <a:xfrm>
            <a:off x="6611112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196328" y="1545336"/>
            <a:ext cx="4443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working search  </a:t>
            </a: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must guess which category holds a service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611112" y="2468880"/>
            <a:ext cx="384048" cy="384048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11" name="Text 9"/>
          <p:cNvSpPr/>
          <p:nvPr/>
        </p:nvSpPr>
        <p:spPr>
          <a:xfrm>
            <a:off x="6611112" y="2468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196328" y="2414016"/>
            <a:ext cx="4443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Dense, unclear navigation  </a:t>
            </a: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information sits multiple clicks deep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611112" y="3337560"/>
            <a:ext cx="384048" cy="384048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14" name="Text 12"/>
          <p:cNvSpPr/>
          <p:nvPr/>
        </p:nvSpPr>
        <p:spPr>
          <a:xfrm>
            <a:off x="6611112" y="3337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196328" y="3282696"/>
            <a:ext cx="4443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plain-language content  </a:t>
            </a: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dense, bureaucratic phrasing throughout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611112" y="4206240"/>
            <a:ext cx="384048" cy="384048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17" name="Text 15"/>
          <p:cNvSpPr/>
          <p:nvPr/>
        </p:nvSpPr>
        <p:spPr>
          <a:xfrm>
            <a:off x="6611112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196328" y="4151376"/>
            <a:ext cx="4443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Spanish-language pages  </a:t>
            </a: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excludes the 92.7% of residents who identify as Hispanic or Latino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611112" y="5120640"/>
            <a:ext cx="5029200" cy="0"/>
          </a:xfrm>
          <a:prstGeom prst="line">
            <a:avLst/>
          </a:prstGeom>
          <a:noFill/>
          <a:ln w="12700">
            <a:solidFill>
              <a:srgbClr val="CADCFC"/>
            </a:solidFill>
            <a:prstDash val="solid"/>
          </a:ln>
        </p:spPr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DFE29D55-05CF-DD45-EBF6-8C138CC9F8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200" y="1546597"/>
            <a:ext cx="6298744" cy="392850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83196" y="1325880"/>
            <a:ext cx="2377440" cy="2377440"/>
          </a:xfrm>
          <a:prstGeom prst="ellipse">
            <a:avLst/>
          </a:prstGeom>
          <a:solidFill>
            <a:srgbClr val="263173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2606040"/>
            <a:ext cx="121889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0" y="374904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walkthrough of the redesigned prototype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 rationale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548640" y="1691640"/>
            <a:ext cx="384048" cy="384048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33856" y="1771904"/>
            <a:ext cx="10506456" cy="303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Simplified navigation  </a:t>
            </a: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reduced to four core links, so key services are never more than one click away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624328"/>
            <a:ext cx="384048" cy="384048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624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33856" y="2704592"/>
            <a:ext cx="10506456" cy="303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search  </a:t>
            </a: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client-side search returns results instantly as the user types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3557016"/>
            <a:ext cx="384048" cy="384048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3557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33856" y="3637280"/>
            <a:ext cx="10506456" cy="303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Plain-language content  </a:t>
            </a: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copy rewritten for a lower reading level throughout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48640" y="4489704"/>
            <a:ext cx="384048" cy="384048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4489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33856" y="4569968"/>
            <a:ext cx="10506456" cy="303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Spanish-language option  </a:t>
            </a: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parallel-language pages, not a browser-translation toggle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5422392"/>
            <a:ext cx="384048" cy="384048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5422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133856" y="5486400"/>
            <a:ext cx="105064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AI-driven features  </a:t>
            </a: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chatbots and voice navigation excluded, since the evidence for their accessibility benefit is largely unevaluated in the current </a:t>
            </a:r>
            <a:r>
              <a:rPr lang="en-US" sz="1350" dirty="0">
                <a:solidFill>
                  <a:srgbClr val="1A1A2E"/>
                </a:solidFill>
                <a:ea typeface="Calibri" pitchFamily="34" charset="-122"/>
                <a:cs typeface="Calibri" pitchFamily="34" charset="-120"/>
              </a:rPr>
              <a:t>literature (growing body of research)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Methodology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3291840" cy="3108960"/>
          </a:xfrm>
          <a:prstGeom prst="roundRect">
            <a:avLst>
              <a:gd name="adj" fmla="val 2353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24028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0" b="1" dirty="0">
                <a:solidFill>
                  <a:srgbClr val="C89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9000" dirty="0"/>
          </a:p>
        </p:txBody>
      </p:sp>
      <p:sp>
        <p:nvSpPr>
          <p:cNvPr id="5" name="Text 3"/>
          <p:cNvSpPr/>
          <p:nvPr/>
        </p:nvSpPr>
        <p:spPr>
          <a:xfrm>
            <a:off x="822960" y="379476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participants</a:t>
            </a:r>
            <a:endParaRPr lang="en-US" sz="15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moderated usability study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480560" y="2202688"/>
            <a:ext cx="91440" cy="91440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0" y="1920240"/>
            <a:ext cx="6885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Mixed-methods evaluation: interviews, observation, and timed tasks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4480560" y="2954528"/>
            <a:ext cx="91440" cy="91440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9" name="Text 7"/>
          <p:cNvSpPr/>
          <p:nvPr/>
        </p:nvSpPr>
        <p:spPr>
          <a:xfrm>
            <a:off x="4754880" y="2670048"/>
            <a:ext cx="6885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participant tested both the original site and the redesigned prototype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4475480" y="3694176"/>
            <a:ext cx="91440" cy="91440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3419856"/>
            <a:ext cx="6885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Task-based scenarios mapped directly to specific recommended design decisions 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4475480" y="4446016"/>
            <a:ext cx="91440" cy="91440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13" name="Text 11"/>
          <p:cNvSpPr/>
          <p:nvPr/>
        </p:nvSpPr>
        <p:spPr>
          <a:xfrm>
            <a:off x="4754880" y="4169664"/>
            <a:ext cx="6885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Pre-task and debrief questions captured perception alongside behavior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original / 35 redesigned task attempts, 5 participants, 9 administered tasks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9509624"/>
              </p:ext>
            </p:extLst>
          </p:nvPr>
        </p:nvGraphicFramePr>
        <p:xfrm>
          <a:off x="548640" y="1691640"/>
          <a:ext cx="11091672" cy="2743200"/>
        </p:xfrm>
        <a:graphic>
          <a:graphicData uri="http://schemas.openxmlformats.org/drawingml/2006/table">
            <a:tbl>
              <a:tblPr/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391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Original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Redesign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 success rate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80.6%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97.1%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C89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+16.5 pts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Hesitation rate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C89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 pts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Rated “easy”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51.6%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97.1%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C89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+45.5 pts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Would give 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C89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-6.8 pts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completion time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50.61s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25.25s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C89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70916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10 (accessibility toolbar) exists only on the redesign, so it adds attempts with no original-site counterpart. Task 5 (Spanish-language) was skipped in every session, since none of the five participants read Spanish, so the Spanish pages were never evaluated through a task.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redesign fell short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691640"/>
            <a:ext cx="5120640" cy="3703320"/>
          </a:xfrm>
          <a:prstGeom prst="roundRect">
            <a:avLst>
              <a:gd name="adj" fmla="val 1975"/>
            </a:avLst>
          </a:prstGeom>
          <a:solidFill>
            <a:srgbClr val="F4F6FB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92024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1: Nutrition Center contact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06704" y="2775204"/>
            <a:ext cx="91440" cy="91440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6" name="Text 4"/>
          <p:cNvSpPr/>
          <p:nvPr/>
        </p:nvSpPr>
        <p:spPr>
          <a:xfrm>
            <a:off x="1078992" y="2560320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Hardest task on both versions: 3 of 5 “no” results were on this task, original site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801624" y="3604260"/>
            <a:ext cx="91440" cy="91440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8" name="Text 6"/>
          <p:cNvSpPr/>
          <p:nvPr/>
        </p:nvSpPr>
        <p:spPr>
          <a:xfrm>
            <a:off x="1078992" y="3273552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redesign’s only outright failure (Participant 5)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01624" y="4309872"/>
            <a:ext cx="91440" cy="91440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10" name="Text 8"/>
          <p:cNvSpPr/>
          <p:nvPr/>
        </p:nvSpPr>
        <p:spPr>
          <a:xfrm>
            <a:off x="1078992" y="3986784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redesign’s only remaining give-up instance (Participant 5)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06704" y="4916424"/>
            <a:ext cx="91440" cy="91440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12" name="Text 10"/>
          <p:cNvSpPr/>
          <p:nvPr/>
        </p:nvSpPr>
        <p:spPr>
          <a:xfrm>
            <a:off x="1078992" y="4700016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Cause: P5 got lost on an external site (Texas AgriLife) the task links out to, not the prototype itself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519672" y="1691640"/>
            <a:ext cx="5120640" cy="3703320"/>
          </a:xfrm>
          <a:prstGeom prst="roundRect">
            <a:avLst>
              <a:gd name="adj" fmla="val 1975"/>
            </a:avLst>
          </a:prstGeom>
          <a:solidFill>
            <a:srgbClr val="1E2761"/>
          </a:solidFill>
          <a:ln/>
        </p:spPr>
      </p:sp>
      <p:sp>
        <p:nvSpPr>
          <p:cNvPr id="14" name="Text 12"/>
          <p:cNvSpPr/>
          <p:nvPr/>
        </p:nvSpPr>
        <p:spPr>
          <a:xfrm>
            <a:off x="6793992" y="192024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2: County clerk information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793992" y="2775204"/>
            <a:ext cx="91440" cy="91440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16" name="Text 14"/>
          <p:cNvSpPr/>
          <p:nvPr/>
        </p:nvSpPr>
        <p:spPr>
          <a:xfrm>
            <a:off x="7050024" y="2560320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Completion time regression: 41.06s → 63.37s, 54% slower on the redesign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796024" y="3483356"/>
            <a:ext cx="91440" cy="91440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18" name="Text 16"/>
          <p:cNvSpPr/>
          <p:nvPr/>
        </p:nvSpPr>
        <p:spPr>
          <a:xfrm>
            <a:off x="7050024" y="3273552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for 3 of 4 participants tested on both versions, a repeated pattern rather than one outlier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793992" y="4064000"/>
            <a:ext cx="91440" cy="91440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20" name="Text 18"/>
          <p:cNvSpPr/>
          <p:nvPr/>
        </p:nvSpPr>
        <p:spPr>
          <a:xfrm>
            <a:off x="7050024" y="3986784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Cause: participants expected clerk info under Topics &amp; Services or the County Directory, and had to detour through About Us instead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793992" y="4874768"/>
            <a:ext cx="91440" cy="91440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22" name="Text 20"/>
          <p:cNvSpPr/>
          <p:nvPr/>
        </p:nvSpPr>
        <p:spPr>
          <a:xfrm>
            <a:off x="7050024" y="4700016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underlying search worked fine. This is an information architecture problem, not a content or search problem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 and future work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5120640" cy="4023360"/>
          </a:xfrm>
          <a:prstGeom prst="roundRect">
            <a:avLst>
              <a:gd name="adj" fmla="val 1818"/>
            </a:avLst>
          </a:prstGeom>
          <a:solidFill>
            <a:srgbClr val="F4F6FB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822960" y="1965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822960" y="2706624"/>
            <a:ext cx="91440" cy="91440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6" name="Text 4"/>
          <p:cNvSpPr/>
          <p:nvPr/>
        </p:nvSpPr>
        <p:spPr>
          <a:xfrm>
            <a:off x="1078992" y="2647188"/>
            <a:ext cx="4297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case study, not a large-scale evaluation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22960" y="3456432"/>
            <a:ext cx="91440" cy="91440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8" name="Text 6"/>
          <p:cNvSpPr/>
          <p:nvPr/>
        </p:nvSpPr>
        <p:spPr>
          <a:xfrm>
            <a:off x="1078992" y="3374136"/>
            <a:ext cx="4297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sample size (n = 5)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22960" y="4206240"/>
            <a:ext cx="91440" cy="91440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10" name="Text 8"/>
          <p:cNvSpPr/>
          <p:nvPr/>
        </p:nvSpPr>
        <p:spPr>
          <a:xfrm>
            <a:off x="1078992" y="4151376"/>
            <a:ext cx="4297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Short-term evaluation window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22960" y="4956048"/>
            <a:ext cx="91440" cy="91440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12" name="Text 10"/>
          <p:cNvSpPr/>
          <p:nvPr/>
        </p:nvSpPr>
        <p:spPr>
          <a:xfrm>
            <a:off x="1078992" y="4901184"/>
            <a:ext cx="4297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protocol not vetted by “field experts”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519672" y="1737360"/>
            <a:ext cx="5120640" cy="4023360"/>
          </a:xfrm>
          <a:prstGeom prst="roundRect">
            <a:avLst>
              <a:gd name="adj" fmla="val 1818"/>
            </a:avLst>
          </a:prstGeom>
          <a:solidFill>
            <a:srgbClr val="1E2761"/>
          </a:solidFill>
          <a:ln/>
        </p:spPr>
      </p:sp>
      <p:sp>
        <p:nvSpPr>
          <p:cNvPr id="14" name="Text 12"/>
          <p:cNvSpPr/>
          <p:nvPr/>
        </p:nvSpPr>
        <p:spPr>
          <a:xfrm>
            <a:off x="6793992" y="1965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6793992" y="2834640"/>
            <a:ext cx="91440" cy="91440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16" name="Text 14"/>
          <p:cNvSpPr/>
          <p:nvPr/>
        </p:nvSpPr>
        <p:spPr>
          <a:xfrm>
            <a:off x="7050024" y="26517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chemeClr val="bg1"/>
                </a:solidFill>
              </a:rPr>
              <a:t>A larger and more diverse sample</a:t>
            </a:r>
          </a:p>
        </p:txBody>
      </p:sp>
      <p:sp>
        <p:nvSpPr>
          <p:cNvPr id="17" name="Shape 15"/>
          <p:cNvSpPr/>
          <p:nvPr/>
        </p:nvSpPr>
        <p:spPr>
          <a:xfrm>
            <a:off x="6793992" y="3817620"/>
            <a:ext cx="91440" cy="91440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18" name="Text 16"/>
          <p:cNvSpPr/>
          <p:nvPr/>
        </p:nvSpPr>
        <p:spPr>
          <a:xfrm>
            <a:off x="7050024" y="36347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chemeClr val="bg1"/>
                </a:solidFill>
              </a:rPr>
              <a:t>Slow or degraded connection evaluation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EBEE860-5AA7-9A1B-4E67-CE132E50D00D}"/>
              </a:ext>
            </a:extLst>
          </p:cNvPr>
          <p:cNvSpPr txBox="1"/>
          <p:nvPr/>
        </p:nvSpPr>
        <p:spPr>
          <a:xfrm>
            <a:off x="3048000" y="3075057"/>
            <a:ext cx="6096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39777823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1289</TotalTime>
  <Words>654</Words>
  <Application>Microsoft Macintosh PowerPoint</Application>
  <PresentationFormat>Widescreen</PresentationFormat>
  <Paragraphs>106</Paragraphs>
  <Slides>10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Kalah Kennebrew</cp:lastModifiedBy>
  <cp:revision>20</cp:revision>
  <dcterms:created xsi:type="dcterms:W3CDTF">2026-08-20T21:33:30Z</dcterms:created>
  <dcterms:modified xsi:type="dcterms:W3CDTF">2026-08-26T09:00:44Z</dcterms:modified>
</cp:coreProperties>
</file>