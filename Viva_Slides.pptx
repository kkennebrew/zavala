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745BFE-740E-4423-8E84-2F8D569D7F35}" type="doc">
      <dgm:prSet loTypeId="urn:microsoft.com/office/officeart/2008/layout/LinedList" loCatId="list" qsTypeId="urn:microsoft.com/office/officeart/2005/8/quickstyle/simple1#2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EBA35A84-6562-4CE2-8BAE-F71587FC66C6}">
      <dgm:prSet/>
      <dgm:spPr/>
      <dgm:t>
        <a:bodyPr/>
        <a:lstStyle/>
        <a:p>
          <a:r>
            <a:rPr lang="en-US" dirty="0">
              <a:solidFill>
                <a:srgbClr val="1E2761"/>
              </a:solidFill>
              <a:latin typeface="Cambria" panose="02040503050406030204" pitchFamily="18" charset="0"/>
            </a:rPr>
            <a:t>Kalah Kennebrew</a:t>
          </a:r>
        </a:p>
      </dgm:t>
    </dgm:pt>
    <dgm:pt modelId="{F7420373-7FF5-44B2-BB58-991AFE1DFE98}" type="parTrans" cxnId="{EB554B81-F3F8-4419-8E3C-31E4ADC63EEE}">
      <dgm:prSet/>
      <dgm:spPr/>
      <dgm:t>
        <a:bodyPr/>
        <a:lstStyle/>
        <a:p>
          <a:endParaRPr lang="en-US"/>
        </a:p>
      </dgm:t>
    </dgm:pt>
    <dgm:pt modelId="{2A11212B-0A72-419E-B55B-EE1B3390BE12}" type="sibTrans" cxnId="{EB554B81-F3F8-4419-8E3C-31E4ADC63EEE}">
      <dgm:prSet/>
      <dgm:spPr/>
      <dgm:t>
        <a:bodyPr/>
        <a:lstStyle/>
        <a:p>
          <a:endParaRPr lang="en-US"/>
        </a:p>
      </dgm:t>
    </dgm:pt>
    <dgm:pt modelId="{B5C56D6A-F0B5-4D77-A4F4-565FCBB3E70B}">
      <dgm:prSet/>
      <dgm:spPr/>
      <dgm:t>
        <a:bodyPr/>
        <a:lstStyle/>
        <a:p>
          <a:r>
            <a:rPr lang="en-US" dirty="0">
              <a:solidFill>
                <a:srgbClr val="1E2761"/>
              </a:solidFill>
              <a:latin typeface="Cambria" panose="02040503050406030204" pitchFamily="18" charset="0"/>
            </a:rPr>
            <a:t>Dissertation presentation for the MSc Dissertation Module</a:t>
          </a:r>
        </a:p>
      </dgm:t>
    </dgm:pt>
    <dgm:pt modelId="{25652F94-A7A0-497F-8670-E6FC2F5714D9}" type="parTrans" cxnId="{4CE94FB4-D31B-4768-B05A-BF69B77F953A}">
      <dgm:prSet/>
      <dgm:spPr/>
      <dgm:t>
        <a:bodyPr/>
        <a:lstStyle/>
        <a:p>
          <a:endParaRPr lang="en-US"/>
        </a:p>
      </dgm:t>
    </dgm:pt>
    <dgm:pt modelId="{218B6ECC-CD2A-460C-B8F9-A3FD7B1CF413}" type="sibTrans" cxnId="{4CE94FB4-D31B-4768-B05A-BF69B77F953A}">
      <dgm:prSet/>
      <dgm:spPr/>
      <dgm:t>
        <a:bodyPr/>
        <a:lstStyle/>
        <a:p>
          <a:endParaRPr lang="en-US"/>
        </a:p>
      </dgm:t>
    </dgm:pt>
    <dgm:pt modelId="{9802240A-5D86-4806-9F6F-0A8FAB68F085}">
      <dgm:prSet/>
      <dgm:spPr/>
      <dgm:t>
        <a:bodyPr/>
        <a:lstStyle/>
        <a:p>
          <a:r>
            <a:rPr lang="en-US" dirty="0">
              <a:solidFill>
                <a:srgbClr val="1E2761"/>
              </a:solidFill>
              <a:latin typeface="Cambria" panose="02040503050406030204" pitchFamily="18" charset="0"/>
            </a:rPr>
            <a:t>School of Computing Sciences, University of East Anglia, 2025/26</a:t>
          </a:r>
        </a:p>
      </dgm:t>
    </dgm:pt>
    <dgm:pt modelId="{112A576E-CC8B-4475-803F-2058DDE0A1D2}" type="parTrans" cxnId="{B0322F74-1A0C-4D91-8308-489AAEE70EF3}">
      <dgm:prSet/>
      <dgm:spPr/>
      <dgm:t>
        <a:bodyPr/>
        <a:lstStyle/>
        <a:p>
          <a:endParaRPr lang="en-US"/>
        </a:p>
      </dgm:t>
    </dgm:pt>
    <dgm:pt modelId="{B831EB2A-361D-42A2-BB17-F8FFCB98D563}" type="sibTrans" cxnId="{B0322F74-1A0C-4D91-8308-489AAEE70EF3}">
      <dgm:prSet/>
      <dgm:spPr/>
      <dgm:t>
        <a:bodyPr/>
        <a:lstStyle/>
        <a:p>
          <a:endParaRPr lang="en-US"/>
        </a:p>
      </dgm:t>
    </dgm:pt>
    <dgm:pt modelId="{DA75CB76-0093-4138-AD2B-49425A65AB37}" type="pres">
      <dgm:prSet presAssocID="{36745BFE-740E-4423-8E84-2F8D569D7F35}" presName="vert0" presStyleCnt="0">
        <dgm:presLayoutVars>
          <dgm:dir/>
          <dgm:animOne val="branch"/>
          <dgm:animLvl val="lvl"/>
        </dgm:presLayoutVars>
      </dgm:prSet>
      <dgm:spPr/>
    </dgm:pt>
    <dgm:pt modelId="{13BDF4CA-1FD9-4F1B-A854-253EF68918C2}" type="pres">
      <dgm:prSet presAssocID="{EBA35A84-6562-4CE2-8BAE-F71587FC66C6}" presName="thickLine" presStyleLbl="alignNode1" presStyleIdx="0" presStyleCnt="3"/>
      <dgm:spPr/>
    </dgm:pt>
    <dgm:pt modelId="{87E9CA9A-147B-445B-B537-3EF9A80076B2}" type="pres">
      <dgm:prSet presAssocID="{EBA35A84-6562-4CE2-8BAE-F71587FC66C6}" presName="horz1" presStyleCnt="0"/>
      <dgm:spPr/>
    </dgm:pt>
    <dgm:pt modelId="{7D06725E-92F2-4969-91E5-0B497B711DD6}" type="pres">
      <dgm:prSet presAssocID="{EBA35A84-6562-4CE2-8BAE-F71587FC66C6}" presName="tx1" presStyleLbl="revTx" presStyleIdx="0" presStyleCnt="3"/>
      <dgm:spPr/>
    </dgm:pt>
    <dgm:pt modelId="{B18EADCE-DADD-42EE-99FD-F03D7C034D39}" type="pres">
      <dgm:prSet presAssocID="{EBA35A84-6562-4CE2-8BAE-F71587FC66C6}" presName="vert1" presStyleCnt="0"/>
      <dgm:spPr/>
    </dgm:pt>
    <dgm:pt modelId="{633CB2FD-C33F-44A4-A26C-C677A4822132}" type="pres">
      <dgm:prSet presAssocID="{B5C56D6A-F0B5-4D77-A4F4-565FCBB3E70B}" presName="thickLine" presStyleLbl="alignNode1" presStyleIdx="1" presStyleCnt="3"/>
      <dgm:spPr/>
    </dgm:pt>
    <dgm:pt modelId="{3751417E-8257-435A-B888-5C287E98927D}" type="pres">
      <dgm:prSet presAssocID="{B5C56D6A-F0B5-4D77-A4F4-565FCBB3E70B}" presName="horz1" presStyleCnt="0"/>
      <dgm:spPr/>
    </dgm:pt>
    <dgm:pt modelId="{10C5E845-BFF2-48BA-8A42-14808F74798E}" type="pres">
      <dgm:prSet presAssocID="{B5C56D6A-F0B5-4D77-A4F4-565FCBB3E70B}" presName="tx1" presStyleLbl="revTx" presStyleIdx="1" presStyleCnt="3"/>
      <dgm:spPr/>
    </dgm:pt>
    <dgm:pt modelId="{7703BB8B-AC56-4197-AECF-25865397A3EE}" type="pres">
      <dgm:prSet presAssocID="{B5C56D6A-F0B5-4D77-A4F4-565FCBB3E70B}" presName="vert1" presStyleCnt="0"/>
      <dgm:spPr/>
    </dgm:pt>
    <dgm:pt modelId="{9C14AD56-6A5D-4E77-8DCA-3607398B1E76}" type="pres">
      <dgm:prSet presAssocID="{9802240A-5D86-4806-9F6F-0A8FAB68F085}" presName="thickLine" presStyleLbl="alignNode1" presStyleIdx="2" presStyleCnt="3"/>
      <dgm:spPr/>
    </dgm:pt>
    <dgm:pt modelId="{1A218C11-C1D0-4AFA-9396-E3C25E973DBB}" type="pres">
      <dgm:prSet presAssocID="{9802240A-5D86-4806-9F6F-0A8FAB68F085}" presName="horz1" presStyleCnt="0"/>
      <dgm:spPr/>
    </dgm:pt>
    <dgm:pt modelId="{4A261453-3594-4BA2-8573-5A7136BD834F}" type="pres">
      <dgm:prSet presAssocID="{9802240A-5D86-4806-9F6F-0A8FAB68F085}" presName="tx1" presStyleLbl="revTx" presStyleIdx="2" presStyleCnt="3"/>
      <dgm:spPr/>
    </dgm:pt>
    <dgm:pt modelId="{C27532E1-C564-4AB1-B856-E237553A86A6}" type="pres">
      <dgm:prSet presAssocID="{9802240A-5D86-4806-9F6F-0A8FAB68F085}" presName="vert1" presStyleCnt="0"/>
      <dgm:spPr/>
    </dgm:pt>
  </dgm:ptLst>
  <dgm:cxnLst>
    <dgm:cxn modelId="{78D20C3D-FEDE-4F64-A5BE-A30533FD3EA0}" type="presOf" srcId="{B5C56D6A-F0B5-4D77-A4F4-565FCBB3E70B}" destId="{10C5E845-BFF2-48BA-8A42-14808F74798E}" srcOrd="0" destOrd="0" presId="urn:microsoft.com/office/officeart/2008/layout/LinedList"/>
    <dgm:cxn modelId="{B0322F74-1A0C-4D91-8308-489AAEE70EF3}" srcId="{36745BFE-740E-4423-8E84-2F8D569D7F35}" destId="{9802240A-5D86-4806-9F6F-0A8FAB68F085}" srcOrd="2" destOrd="0" parTransId="{112A576E-CC8B-4475-803F-2058DDE0A1D2}" sibTransId="{B831EB2A-361D-42A2-BB17-F8FFCB98D563}"/>
    <dgm:cxn modelId="{EB554B81-F3F8-4419-8E3C-31E4ADC63EEE}" srcId="{36745BFE-740E-4423-8E84-2F8D569D7F35}" destId="{EBA35A84-6562-4CE2-8BAE-F71587FC66C6}" srcOrd="0" destOrd="0" parTransId="{F7420373-7FF5-44B2-BB58-991AFE1DFE98}" sibTransId="{2A11212B-0A72-419E-B55B-EE1B3390BE12}"/>
    <dgm:cxn modelId="{638885AC-6F7F-4140-9DF4-9958E66FD66F}" type="presOf" srcId="{36745BFE-740E-4423-8E84-2F8D569D7F35}" destId="{DA75CB76-0093-4138-AD2B-49425A65AB37}" srcOrd="0" destOrd="0" presId="urn:microsoft.com/office/officeart/2008/layout/LinedList"/>
    <dgm:cxn modelId="{6D4475AE-B959-4A9E-870A-AC1645A9311A}" type="presOf" srcId="{9802240A-5D86-4806-9F6F-0A8FAB68F085}" destId="{4A261453-3594-4BA2-8573-5A7136BD834F}" srcOrd="0" destOrd="0" presId="urn:microsoft.com/office/officeart/2008/layout/LinedList"/>
    <dgm:cxn modelId="{4CE94FB4-D31B-4768-B05A-BF69B77F953A}" srcId="{36745BFE-740E-4423-8E84-2F8D569D7F35}" destId="{B5C56D6A-F0B5-4D77-A4F4-565FCBB3E70B}" srcOrd="1" destOrd="0" parTransId="{25652F94-A7A0-497F-8670-E6FC2F5714D9}" sibTransId="{218B6ECC-CD2A-460C-B8F9-A3FD7B1CF413}"/>
    <dgm:cxn modelId="{0B3F14D1-037D-4096-940C-D4E3B0DF4005}" type="presOf" srcId="{EBA35A84-6562-4CE2-8BAE-F71587FC66C6}" destId="{7D06725E-92F2-4969-91E5-0B497B711DD6}" srcOrd="0" destOrd="0" presId="urn:microsoft.com/office/officeart/2008/layout/LinedList"/>
    <dgm:cxn modelId="{38D20DEC-1CC9-4537-A91D-5D10D10E9A5B}" type="presParOf" srcId="{DA75CB76-0093-4138-AD2B-49425A65AB37}" destId="{13BDF4CA-1FD9-4F1B-A854-253EF68918C2}" srcOrd="0" destOrd="0" presId="urn:microsoft.com/office/officeart/2008/layout/LinedList"/>
    <dgm:cxn modelId="{091D5ED1-684F-4DCA-A3D8-8A9592E66F88}" type="presParOf" srcId="{DA75CB76-0093-4138-AD2B-49425A65AB37}" destId="{87E9CA9A-147B-445B-B537-3EF9A80076B2}" srcOrd="1" destOrd="0" presId="urn:microsoft.com/office/officeart/2008/layout/LinedList"/>
    <dgm:cxn modelId="{A0FBE978-D460-488E-B36E-3876FB3D21E2}" type="presParOf" srcId="{87E9CA9A-147B-445B-B537-3EF9A80076B2}" destId="{7D06725E-92F2-4969-91E5-0B497B711DD6}" srcOrd="0" destOrd="0" presId="urn:microsoft.com/office/officeart/2008/layout/LinedList"/>
    <dgm:cxn modelId="{A8EBB781-660F-4DCE-A217-E6E61C56119E}" type="presParOf" srcId="{87E9CA9A-147B-445B-B537-3EF9A80076B2}" destId="{B18EADCE-DADD-42EE-99FD-F03D7C034D39}" srcOrd="1" destOrd="0" presId="urn:microsoft.com/office/officeart/2008/layout/LinedList"/>
    <dgm:cxn modelId="{CDC11BED-F83D-4492-BF61-D72D6BCC2331}" type="presParOf" srcId="{DA75CB76-0093-4138-AD2B-49425A65AB37}" destId="{633CB2FD-C33F-44A4-A26C-C677A4822132}" srcOrd="2" destOrd="0" presId="urn:microsoft.com/office/officeart/2008/layout/LinedList"/>
    <dgm:cxn modelId="{F4E4CD6A-FAF5-420F-AC81-04E7F6515198}" type="presParOf" srcId="{DA75CB76-0093-4138-AD2B-49425A65AB37}" destId="{3751417E-8257-435A-B888-5C287E98927D}" srcOrd="3" destOrd="0" presId="urn:microsoft.com/office/officeart/2008/layout/LinedList"/>
    <dgm:cxn modelId="{CD3FD57D-EA53-4FE5-8376-36BD2B72068A}" type="presParOf" srcId="{3751417E-8257-435A-B888-5C287E98927D}" destId="{10C5E845-BFF2-48BA-8A42-14808F74798E}" srcOrd="0" destOrd="0" presId="urn:microsoft.com/office/officeart/2008/layout/LinedList"/>
    <dgm:cxn modelId="{F372E294-2D5D-4AAB-8936-F78A2A83FF53}" type="presParOf" srcId="{3751417E-8257-435A-B888-5C287E98927D}" destId="{7703BB8B-AC56-4197-AECF-25865397A3EE}" srcOrd="1" destOrd="0" presId="urn:microsoft.com/office/officeart/2008/layout/LinedList"/>
    <dgm:cxn modelId="{DB83B56E-8B5B-4681-9A54-E93067D37BAE}" type="presParOf" srcId="{DA75CB76-0093-4138-AD2B-49425A65AB37}" destId="{9C14AD56-6A5D-4E77-8DCA-3607398B1E76}" srcOrd="4" destOrd="0" presId="urn:microsoft.com/office/officeart/2008/layout/LinedList"/>
    <dgm:cxn modelId="{797FF5FC-9D58-49BF-B7D0-21FF43701A28}" type="presParOf" srcId="{DA75CB76-0093-4138-AD2B-49425A65AB37}" destId="{1A218C11-C1D0-4AFA-9396-E3C25E973DBB}" srcOrd="5" destOrd="0" presId="urn:microsoft.com/office/officeart/2008/layout/LinedList"/>
    <dgm:cxn modelId="{0C9A31C0-DE0C-44B2-95E1-610227A4655A}" type="presParOf" srcId="{1A218C11-C1D0-4AFA-9396-E3C25E973DBB}" destId="{4A261453-3594-4BA2-8573-5A7136BD834F}" srcOrd="0" destOrd="0" presId="urn:microsoft.com/office/officeart/2008/layout/LinedList"/>
    <dgm:cxn modelId="{73687C58-B703-4645-8AB4-1D90201E2242}" type="presParOf" srcId="{1A218C11-C1D0-4AFA-9396-E3C25E973DBB}" destId="{C27532E1-C564-4AB1-B856-E237553A86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DF4CA-1FD9-4F1B-A854-253EF68918C2}">
      <dsp:nvSpPr>
        <dsp:cNvPr id="0" name=""/>
        <dsp:cNvSpPr/>
      </dsp:nvSpPr>
      <dsp:spPr>
        <a:xfrm>
          <a:off x="0" y="2352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6725E-92F2-4969-91E5-0B497B711DD6}">
      <dsp:nvSpPr>
        <dsp:cNvPr id="0" name=""/>
        <dsp:cNvSpPr/>
      </dsp:nvSpPr>
      <dsp:spPr>
        <a:xfrm>
          <a:off x="0" y="2352"/>
          <a:ext cx="5336753" cy="1604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1E2761"/>
              </a:solidFill>
              <a:latin typeface="Cambria" panose="02040503050406030204" pitchFamily="18" charset="0"/>
            </a:rPr>
            <a:t>Kalah Kennebrew</a:t>
          </a:r>
        </a:p>
      </dsp:txBody>
      <dsp:txXfrm>
        <a:off x="0" y="2352"/>
        <a:ext cx="5336753" cy="1604452"/>
      </dsp:txXfrm>
    </dsp:sp>
    <dsp:sp modelId="{633CB2FD-C33F-44A4-A26C-C677A4822132}">
      <dsp:nvSpPr>
        <dsp:cNvPr id="0" name=""/>
        <dsp:cNvSpPr/>
      </dsp:nvSpPr>
      <dsp:spPr>
        <a:xfrm>
          <a:off x="0" y="1606804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5E845-BFF2-48BA-8A42-14808F74798E}">
      <dsp:nvSpPr>
        <dsp:cNvPr id="0" name=""/>
        <dsp:cNvSpPr/>
      </dsp:nvSpPr>
      <dsp:spPr>
        <a:xfrm>
          <a:off x="0" y="1606804"/>
          <a:ext cx="5336753" cy="1604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1E2761"/>
              </a:solidFill>
              <a:latin typeface="Cambria" panose="02040503050406030204" pitchFamily="18" charset="0"/>
            </a:rPr>
            <a:t>Dissertation presentation for the MSc Dissertation Module</a:t>
          </a:r>
        </a:p>
      </dsp:txBody>
      <dsp:txXfrm>
        <a:off x="0" y="1606804"/>
        <a:ext cx="5336753" cy="1604452"/>
      </dsp:txXfrm>
    </dsp:sp>
    <dsp:sp modelId="{9C14AD56-6A5D-4E77-8DCA-3607398B1E76}">
      <dsp:nvSpPr>
        <dsp:cNvPr id="0" name=""/>
        <dsp:cNvSpPr/>
      </dsp:nvSpPr>
      <dsp:spPr>
        <a:xfrm>
          <a:off x="0" y="3211257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61453-3594-4BA2-8573-5A7136BD834F}">
      <dsp:nvSpPr>
        <dsp:cNvPr id="0" name=""/>
        <dsp:cNvSpPr/>
      </dsp:nvSpPr>
      <dsp:spPr>
        <a:xfrm>
          <a:off x="0" y="3211257"/>
          <a:ext cx="5336753" cy="1604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1E2761"/>
              </a:solidFill>
              <a:latin typeface="Cambria" panose="02040503050406030204" pitchFamily="18" charset="0"/>
            </a:rPr>
            <a:t>School of Computing Sciences, University of East Anglia, 2025/26</a:t>
          </a:r>
        </a:p>
      </dsp:txBody>
      <dsp:txXfrm>
        <a:off x="0" y="3211257"/>
        <a:ext cx="5336753" cy="1604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93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.zavala.tx.u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0F06ED-304C-CCFD-D63A-CD3FFE835806}"/>
              </a:ext>
            </a:extLst>
          </p:cNvPr>
          <p:cNvSpPr txBox="1"/>
          <p:nvPr/>
        </p:nvSpPr>
        <p:spPr>
          <a:xfrm>
            <a:off x="335280" y="847636"/>
            <a:ext cx="5201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Accessibility, Low Literacy, and Low Connectivity</a:t>
            </a:r>
            <a:endParaRPr lang="en-US" sz="4000" dirty="0">
              <a:solidFill>
                <a:srgbClr val="1E276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E594C-4C9B-7C8C-3F2F-51B344EC8C10}"/>
              </a:ext>
            </a:extLst>
          </p:cNvPr>
          <p:cNvSpPr txBox="1"/>
          <p:nvPr/>
        </p:nvSpPr>
        <p:spPr>
          <a:xfrm>
            <a:off x="335280" y="3726706"/>
            <a:ext cx="5201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can optimizing for accessibility, low-literacy, and low-connectivity in e-government interfaces improve task completion on the Zavala County, Texas website?</a:t>
            </a:r>
            <a:r>
              <a:rPr lang="en-US" sz="2400" dirty="0"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graphicFrame>
        <p:nvGraphicFramePr>
          <p:cNvPr id="10" name="Subtitle 2">
            <a:extLst>
              <a:ext uri="{FF2B5EF4-FFF2-40B4-BE49-F238E27FC236}">
                <a16:creationId xmlns:a16="http://schemas.microsoft.com/office/drawing/2014/main" id="{28B0E3FE-F60C-5B73-0760-03EA7E164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88626"/>
              </p:ext>
            </p:extLst>
          </p:nvPr>
        </p:nvGraphicFramePr>
        <p:xfrm>
          <a:off x="6096000" y="847636"/>
          <a:ext cx="5336753" cy="481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077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Zavala County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Zavala County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" y="1425956"/>
            <a:ext cx="4956048" cy="367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500" dirty="0">
              <a:solidFill>
                <a:srgbClr val="1A1A2E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500" dirty="0">
              <a:solidFill>
                <a:srgbClr val="1A1A2E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500" dirty="0">
              <a:solidFill>
                <a:srgbClr val="1A1A2E"/>
              </a:solidFill>
              <a:ea typeface="Calibri" pitchFamily="34" charset="-122"/>
              <a:cs typeface="Calibri" pitchFamily="34" charset="-120"/>
            </a:endParaRPr>
          </a:p>
          <a:p>
            <a:pPr lvl="0" fontAlgn="base"/>
            <a:r>
              <a:rPr lang="en-US" sz="1500" dirty="0"/>
              <a:t>Located in Southwest Texas​</a:t>
            </a:r>
          </a:p>
          <a:p>
            <a:pPr lvl="0" fontAlgn="base"/>
            <a:endParaRPr lang="en-US" sz="1500" dirty="0"/>
          </a:p>
          <a:p>
            <a:pPr lvl="0" fontAlgn="base"/>
            <a:r>
              <a:rPr lang="en-US" sz="1500" dirty="0"/>
              <a:t>Sits at the U.S.- Mexico border</a:t>
            </a:r>
          </a:p>
          <a:p>
            <a:pPr lvl="0" fontAlgn="base"/>
            <a:r>
              <a:rPr lang="en-US" sz="1500" dirty="0"/>
              <a:t>​</a:t>
            </a:r>
          </a:p>
          <a:p>
            <a:pPr lvl="0" fontAlgn="base"/>
            <a:r>
              <a:rPr lang="en-US" sz="1500" dirty="0"/>
              <a:t>Its main town, or county seat, is Crystal City​</a:t>
            </a:r>
          </a:p>
          <a:p>
            <a:pPr lvl="0" fontAlgn="base"/>
            <a:endParaRPr lang="en-US" sz="1500" dirty="0"/>
          </a:p>
          <a:p>
            <a:pPr lvl="0" fontAlgn="base"/>
            <a:r>
              <a:rPr lang="en-US" sz="1500" dirty="0"/>
              <a:t>92.7% of residents identified as Hispanic or Latinx (U.S. Census Bureau, 2025)​</a:t>
            </a:r>
          </a:p>
          <a:p>
            <a:pPr lvl="0" fontAlgn="base"/>
            <a:endParaRPr lang="en-US" sz="1500" dirty="0"/>
          </a:p>
          <a:p>
            <a:pPr lvl="0" fontAlgn="base"/>
            <a:r>
              <a:rPr lang="en-US" sz="1500" dirty="0"/>
              <a:t>83.3% households have broadband access; 1 in 6 households without broadband (U.S. Census Bureau, 2025)​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" y="281990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Shape 6"/>
          <p:cNvSpPr/>
          <p:nvPr/>
        </p:nvSpPr>
        <p:spPr>
          <a:xfrm>
            <a:off x="559816" y="235051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2905" y="6035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Zavala County Website   </a:t>
            </a:r>
            <a:r>
              <a:rPr lang="en-US" u="sng" dirty="0">
                <a:solidFill>
                  <a:srgbClr val="C892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co.zavala.tx.us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FF55C1-1232-B8FD-5E4C-11254BB1E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216" y="80010"/>
            <a:ext cx="6179459" cy="5840041"/>
          </a:xfrm>
          <a:prstGeom prst="rect">
            <a:avLst/>
          </a:prstGeom>
        </p:spPr>
      </p:pic>
      <p:sp>
        <p:nvSpPr>
          <p:cNvPr id="19" name="Shape 4">
            <a:extLst>
              <a:ext uri="{FF2B5EF4-FFF2-40B4-BE49-F238E27FC236}">
                <a16:creationId xmlns:a16="http://schemas.microsoft.com/office/drawing/2014/main" id="{75E06B23-2D2D-50A7-09EE-A1B6FFC885D8}"/>
              </a:ext>
            </a:extLst>
          </p:cNvPr>
          <p:cNvSpPr/>
          <p:nvPr/>
        </p:nvSpPr>
        <p:spPr>
          <a:xfrm>
            <a:off x="544068" y="3271012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E9944AC7-FADB-F486-E03C-42005627B5F6}"/>
              </a:ext>
            </a:extLst>
          </p:cNvPr>
          <p:cNvSpPr/>
          <p:nvPr/>
        </p:nvSpPr>
        <p:spPr>
          <a:xfrm>
            <a:off x="555752" y="369620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53B65815-A3AF-5CB5-EAFF-FBB612921D73}"/>
              </a:ext>
            </a:extLst>
          </p:cNvPr>
          <p:cNvSpPr/>
          <p:nvPr/>
        </p:nvSpPr>
        <p:spPr>
          <a:xfrm>
            <a:off x="544068" y="4416045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611112" y="160020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Text 6"/>
          <p:cNvSpPr/>
          <p:nvPr/>
        </p:nvSpPr>
        <p:spPr>
          <a:xfrm>
            <a:off x="661111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6328" y="154533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working search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guess which category holds a service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11112" y="246888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6328" y="241401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unclear navigation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information sits multiple clicks deep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11112" y="333756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6328" y="328269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plain-language content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bureaucratic phrasing throughout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420624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1111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96328" y="415137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Spanish-language pages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the 92.7% of residents who identify as Hispanic or Latino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11112" y="5120640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5257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C8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literature documents accessibility features far more than it measures whether they actually help the people they target.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E29D55-05CF-DD45-EBF6-8C138CC9F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0" y="1600200"/>
            <a:ext cx="6298744" cy="39285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3196" y="1325880"/>
            <a:ext cx="2377440" cy="237744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060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redesigned prototype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rationale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" y="1771904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navigation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four core links, so key services are never more than one click away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" y="2704592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search returns results instantly as the user types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3856" y="3637280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content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copy rewritten for a lower reading level throughout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" y="4569968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Spanish-language homepage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parallel-language page, not a machine-translation toggle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" y="54864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AI-driven features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voice </a:t>
            </a:r>
            <a:r>
              <a:rPr lang="en-US" sz="13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excluded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since the evidence for their accessibility benefit is largely unevaluated in the current literature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40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C8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usability study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220268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920240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 evaluation: interviews, observation, and timed tasks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295452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670048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tested both the original site and the redesigned prototype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75480" y="369417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419856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scenarios mapped directly to specific recommended design decisions 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75480" y="444601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4169664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Pre-task and debrief questions captured perception alongside behavior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original / 35 redesigned task attempts, 5 participants, 9 administered tasks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09624"/>
              </p:ext>
            </p:extLst>
          </p:nvPr>
        </p:nvGraphicFramePr>
        <p:xfrm>
          <a:off x="548640" y="1691640"/>
          <a:ext cx="11091672" cy="274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success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+16.5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Hesitation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Rated “easy”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+45.5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give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-6.8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completion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50.61s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25.25s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(accessibility toolbar) exists only on the redesign, so it adds attempts with no original-site counterpart. Task 5 (Spanish-language) was skipped in every session, since none of the five participants read Spanish, so the Spanish pages were never evaluated through a task.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redesign fell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Nutrition Center contact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06704" y="277520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560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task on both versions: 3 of 5 “no” results were on this task, original 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1624" y="360426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735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redesign’s only outright failure (Participant 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624" y="4309872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8678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redesign’s only remaining give-up instance (Participant 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704" y="491642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7000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P5 got lost on an external site (Texas AgriLife) the task links out to, not the prototype itself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19672" y="169164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93992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County clerk information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93992" y="277520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560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 regression: 41.06s → 63.37s, 54% slower on the redesign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96024" y="348335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0024" y="32735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for 3 of 4 participants tested on both versions, a repeated pattern rather than one outlier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3992" y="406400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0" name="Text 18"/>
          <p:cNvSpPr/>
          <p:nvPr/>
        </p:nvSpPr>
        <p:spPr>
          <a:xfrm>
            <a:off x="7050024" y="398678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participants expected clerk info under Topics &amp; Services or the County Directory, and had to detour through About Us instead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93992" y="487476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2" name="Text 20"/>
          <p:cNvSpPr/>
          <p:nvPr/>
        </p:nvSpPr>
        <p:spPr>
          <a:xfrm>
            <a:off x="7050024" y="47000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search worked fine. This is an information architecture problem, not a content or search problem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70662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6471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case study, not a large-scale evaluation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3741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(n = 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evaluation window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95604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9011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protocol not vetted by “field experts”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19672" y="17373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93992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793992" y="283464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A larger and more diverse sample</a:t>
            </a:r>
          </a:p>
        </p:txBody>
      </p:sp>
      <p:sp>
        <p:nvSpPr>
          <p:cNvPr id="17" name="Shape 15"/>
          <p:cNvSpPr/>
          <p:nvPr/>
        </p:nvSpPr>
        <p:spPr>
          <a:xfrm>
            <a:off x="6793992" y="381762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0024" y="36347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Slow or degraded connection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EE860-5AA7-9A1B-4E67-CE132E50D00D}"/>
              </a:ext>
            </a:extLst>
          </p:cNvPr>
          <p:cNvSpPr txBox="1"/>
          <p:nvPr/>
        </p:nvSpPr>
        <p:spPr>
          <a:xfrm>
            <a:off x="3048000" y="30750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7778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668</Words>
  <Application>Microsoft Macintosh PowerPoint</Application>
  <PresentationFormat>Widescreen</PresentationFormat>
  <Paragraphs>107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Kalah Kennebrew</cp:lastModifiedBy>
  <cp:revision>16</cp:revision>
  <dcterms:created xsi:type="dcterms:W3CDTF">2026-08-20T21:33:30Z</dcterms:created>
  <dcterms:modified xsi:type="dcterms:W3CDTF">2026-08-25T19:59:18Z</dcterms:modified>
</cp:coreProperties>
</file>